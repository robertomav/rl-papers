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7"/>
    <p:restoredTop sz="94694"/>
  </p:normalViewPr>
  <p:slideViewPr>
    <p:cSldViewPr snapToGrid="0">
      <p:cViewPr varScale="1">
        <p:scale>
          <a:sx n="149" d="100"/>
          <a:sy n="149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1BA3-089A-4087-1DEC-8642D2B9A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60EE6-E299-344F-BD38-F76A82E2D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06082-AA51-D951-D8A2-50ACE15E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507F2-03B9-5F65-F7E3-0B21D0B7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428B9-735C-8DD9-18C3-5B51E566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8004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616E-4E28-065F-1FEC-9A1B90D4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BF6B-7FC8-5E1F-DE86-8B0DCCEBE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11B71-25D1-8012-F3B6-AC8994DE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7B3F1-8DDB-C795-3AD5-67765240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5F085-4FB3-C8A4-16F9-17638772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2524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C033-2B79-2C2D-5492-052A4BEC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F850A-2791-97FB-85D8-3C58D24E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4B2E2-A8FC-35E9-0EC0-860C1F66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F6E7-628B-3A97-D7BC-CA6830B4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7328-1A59-4CFB-4C9A-81A616BA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1660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D3AA-B821-412B-427B-E47827B7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5D64-76A9-02E1-BFA9-97CE0884E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0DC11-F68D-7885-FCB8-DA5775570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7D33C-C69A-5634-4E8C-345EE564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7F4EA-DDE6-B274-5292-B41CBB15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9F295-BA22-8843-F741-82AE0D8B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44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4EBE-8F01-704F-9E23-CC42C8B8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901A5-9974-45BF-3B3E-D0F1806E6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300CB-BBD8-0DFD-710D-E38755A2E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0043C-D8B5-5EDB-6D43-344BC6FEE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1DD2A-1FA8-881A-2360-E28374EA5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76BA4-3DC3-5DD9-9AED-A27F0434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5BB86-1FC1-1A68-1405-9AD66213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72AC9A-3C0F-E3E6-CB4C-C0C4BDA0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0680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E79CD-9BEB-AFB6-2A17-78C1092F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A779B-C090-B50D-FE36-9CE97163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6AC5A-D8D5-3EB3-99D6-9A7892CC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3A5E8-E8F9-4FB0-DB00-95E9E44A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709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8BB8F-99CF-ED80-AC27-E8483CD1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FD660-DE0E-C0F4-0094-10901D46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91BD4-239A-06AB-6331-94D7544C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0159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688C-557E-4A42-E1DA-164C5E251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74747-3392-960C-54AB-3FBDF29B8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C9CF8-A375-7F37-B0D4-F6A9E6DAD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916E4-3C20-3CB9-6781-1F659442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B29C7-AC30-F23B-C9B9-5D512100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9E854-A749-CDED-A0CC-6CC51042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3584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ACA2-41C9-5960-0BF4-9671D4E5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88B1F-36B8-CA20-FC33-8883ADB0D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901F5-97EE-9DA6-0A3D-62669C2B6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61573-A84E-1483-DF86-9DBCA5C0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89123-EFDC-4D5B-C813-EFE17400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55917-E5B4-3111-58B4-F44A935E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096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6051-48A5-7D55-3750-7119EF9B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1012B-69B1-9D59-E7A3-4311C064A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937F2-0877-3CF9-714D-4D26EFA1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CB1C6-B9C3-3FF6-755C-6AD68FC6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BFEC-0612-8F23-11E1-57232803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495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D85B63-BBC4-025D-76B6-FE4215228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C91CC-2FB1-6DB7-9ACF-D5BCEA2FE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37721-B0B6-5253-1FB6-FAC2A6FF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EF834-F6C2-46B1-C75F-C507A996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4DA36-506E-3667-A358-65DFCEF2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158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ACD1-B8ED-E202-1ABC-73C360AC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02ED2-E145-1E6D-4471-E71478F1B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0D8B8-4F69-A516-0B6E-B3CB73E19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070F8-F94D-FE40-A2DF-D108ACD0C62C}" type="datetimeFigureOut">
              <a:rPr lang="en-BR" smtClean="0"/>
              <a:t>11/06/25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973DD-465F-B564-6A72-2684FC578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DE83C-2C55-0047-3A28-68BF7007C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373E1-80F1-3B4C-8F49-E6056FF4426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125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93F0-2E1C-BFD9-90BB-A6C9AB9DE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R" dirty="0"/>
              <a:t>Trabalho 2 – </a:t>
            </a:r>
            <a:br>
              <a:rPr lang="en-BR" dirty="0"/>
            </a:br>
            <a:r>
              <a:rPr lang="en-BR" dirty="0"/>
              <a:t>Aprendizado por Reforço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1CCDC-5D97-3A7E-8255-4124254E2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R" dirty="0"/>
              <a:t>Roberto Martins</a:t>
            </a:r>
          </a:p>
        </p:txBody>
      </p:sp>
    </p:spTree>
    <p:extLst>
      <p:ext uri="{BB962C8B-B14F-4D97-AF65-F5344CB8AC3E}">
        <p14:creationId xmlns:p14="http://schemas.microsoft.com/office/powerpoint/2010/main" val="3426955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E1B92-E5F0-45EC-0A31-438B7E46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BR" sz="4800"/>
              <a:t>Introdução e Objetivos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43EB-6778-02E8-9A57-83EAA795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Objetivo</a:t>
            </a:r>
            <a:r>
              <a:rPr lang="en-US" sz="2000"/>
              <a:t>: Implementar agente DQN para aprender Atari Pong autonomamente</a:t>
            </a:r>
          </a:p>
          <a:p>
            <a:r>
              <a:rPr lang="en-US" sz="2000" b="1"/>
              <a:t>Problema</a:t>
            </a:r>
            <a:r>
              <a:rPr lang="en-US" sz="2000"/>
              <a:t>: Decisão sequencial em ambiente visual complexo</a:t>
            </a:r>
          </a:p>
          <a:p>
            <a:r>
              <a:rPr lang="en-US" sz="2000" b="1"/>
              <a:t>Desafio</a:t>
            </a:r>
            <a:r>
              <a:rPr lang="en-US" sz="2000"/>
              <a:t>: Combinar Redes Neurais Profundas com Aprendizado por Reforço</a:t>
            </a:r>
          </a:p>
          <a:p>
            <a:r>
              <a:rPr lang="en-US" sz="2000" b="1"/>
              <a:t>Ambiente escolhido</a:t>
            </a:r>
            <a:r>
              <a:rPr lang="en-US" sz="2000"/>
              <a:t>: ALE/Pong-v5 - clássico benchmark de RL</a:t>
            </a:r>
          </a:p>
          <a:p>
            <a:pPr marL="0" indent="0">
              <a:buNone/>
            </a:pPr>
            <a:endParaRPr lang="en-BR" sz="2000"/>
          </a:p>
        </p:txBody>
      </p:sp>
      <p:pic>
        <p:nvPicPr>
          <p:cNvPr id="1026" name="Picture 2" descr="Conheça Pong, o primeiro videogame lucrativo da história">
            <a:extLst>
              <a:ext uri="{FF2B5EF4-FFF2-40B4-BE49-F238E27FC236}">
                <a16:creationId xmlns:a16="http://schemas.microsoft.com/office/drawing/2014/main" id="{8AC82ABA-99ED-F985-08DA-D730D3DFA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892862"/>
            <a:ext cx="5150277" cy="289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90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29B8-B655-CE80-6C27-B776BFAA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84A6-E029-3367-8A89-785EE1697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Formulação</a:t>
            </a:r>
            <a:r>
              <a:rPr lang="en-US" sz="4800" dirty="0"/>
              <a:t> do </a:t>
            </a:r>
            <a:r>
              <a:rPr lang="en-US" sz="4800" dirty="0" err="1"/>
              <a:t>Problema</a:t>
            </a:r>
            <a:endParaRPr lang="en-BR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F7E5F-90D2-43D2-DE95-61B57F462AFE}"/>
              </a:ext>
            </a:extLst>
          </p:cNvPr>
          <p:cNvSpPr txBox="1"/>
          <p:nvPr/>
        </p:nvSpPr>
        <p:spPr>
          <a:xfrm>
            <a:off x="793662" y="2070537"/>
            <a:ext cx="10841290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Espaço</a:t>
            </a:r>
            <a:r>
              <a:rPr lang="en-US" b="1" dirty="0"/>
              <a:t> de </a:t>
            </a:r>
            <a:r>
              <a:rPr lang="en-US" b="1" dirty="0" err="1"/>
              <a:t>Estados</a:t>
            </a:r>
            <a:r>
              <a:rPr lang="en-US" dirty="0"/>
              <a:t>: Imagens RGB 210×160×3 (</a:t>
            </a:r>
            <a:r>
              <a:rPr lang="en-US" dirty="0" err="1"/>
              <a:t>quadros</a:t>
            </a:r>
            <a:r>
              <a:rPr lang="en-US" dirty="0"/>
              <a:t> do </a:t>
            </a:r>
            <a:r>
              <a:rPr lang="en-US" dirty="0" err="1"/>
              <a:t>jogo</a:t>
            </a:r>
            <a:r>
              <a:rPr lang="en-US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Espaço</a:t>
            </a:r>
            <a:r>
              <a:rPr lang="en-US" b="1" dirty="0"/>
              <a:t> de </a:t>
            </a:r>
            <a:r>
              <a:rPr lang="en-US" b="1" dirty="0" err="1"/>
              <a:t>Ações</a:t>
            </a:r>
            <a:r>
              <a:rPr lang="en-US" dirty="0"/>
              <a:t>: 6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discretas</a:t>
            </a:r>
            <a:r>
              <a:rPr lang="en-US" dirty="0"/>
              <a:t> (NOOP, FIRE, RIGHT, LEFT, etc.)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Recompensas</a:t>
            </a:r>
            <a:r>
              <a:rPr lang="en-US" dirty="0"/>
              <a:t>: +1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marcado</a:t>
            </a:r>
            <a:r>
              <a:rPr lang="en-US" dirty="0"/>
              <a:t>, -1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sofrido</a:t>
            </a:r>
            <a:r>
              <a:rPr lang="en-US" dirty="0"/>
              <a:t>, 0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contrário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Objetivo</a:t>
            </a:r>
            <a:r>
              <a:rPr lang="en-US" dirty="0"/>
              <a:t>: </a:t>
            </a:r>
            <a:r>
              <a:rPr lang="en-US" dirty="0" err="1"/>
              <a:t>Maximizar</a:t>
            </a:r>
            <a:r>
              <a:rPr lang="en-US" dirty="0"/>
              <a:t> </a:t>
            </a:r>
            <a:r>
              <a:rPr lang="en-US" dirty="0" err="1"/>
              <a:t>recompensa</a:t>
            </a:r>
            <a:r>
              <a:rPr lang="en-US" dirty="0"/>
              <a:t> </a:t>
            </a:r>
            <a:r>
              <a:rPr lang="en-US" dirty="0" err="1"/>
              <a:t>cumulativa</a:t>
            </a:r>
            <a:r>
              <a:rPr lang="en-US" dirty="0"/>
              <a:t> J(</a:t>
            </a:r>
            <a:r>
              <a:rPr lang="el-GR" dirty="0"/>
              <a:t>π) = </a:t>
            </a:r>
            <a:r>
              <a:rPr lang="en-US" dirty="0"/>
              <a:t>E[∑</a:t>
            </a:r>
            <a:r>
              <a:rPr lang="el-GR" dirty="0"/>
              <a:t>γ</a:t>
            </a:r>
            <a:r>
              <a:rPr lang="en-US" dirty="0"/>
              <a:t>ᵗR(</a:t>
            </a:r>
            <a:r>
              <a:rPr lang="en-US" dirty="0" err="1"/>
              <a:t>sₜ,a</a:t>
            </a:r>
            <a:r>
              <a:rPr lang="en-US" dirty="0"/>
              <a:t>ₜ)]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Fator de </a:t>
            </a:r>
            <a:r>
              <a:rPr lang="en-US" b="1" dirty="0" err="1"/>
              <a:t>desconto</a:t>
            </a:r>
            <a:r>
              <a:rPr lang="en-US" dirty="0"/>
              <a:t>: </a:t>
            </a:r>
            <a:r>
              <a:rPr lang="el-GR" dirty="0"/>
              <a:t>γ = 0.99 (</a:t>
            </a:r>
            <a:r>
              <a:rPr lang="en-US" dirty="0" err="1"/>
              <a:t>estratégia</a:t>
            </a:r>
            <a:r>
              <a:rPr lang="en-US" dirty="0"/>
              <a:t> de </a:t>
            </a:r>
            <a:r>
              <a:rPr lang="en-US" dirty="0" err="1"/>
              <a:t>longo</a:t>
            </a:r>
            <a:r>
              <a:rPr lang="en-US" dirty="0"/>
              <a:t> </a:t>
            </a:r>
            <a:r>
              <a:rPr lang="en-US" dirty="0" err="1"/>
              <a:t>prazo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4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4279-1664-0D4A-0CFD-F7A24710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5A86-0E59-787C-A729-438BEBF0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Fundamentos</a:t>
            </a:r>
            <a:r>
              <a:rPr lang="en-US" dirty="0"/>
              <a:t> </a:t>
            </a:r>
            <a:r>
              <a:rPr lang="en-US" dirty="0" err="1"/>
              <a:t>Teóricos</a:t>
            </a:r>
            <a:r>
              <a:rPr lang="en-US" dirty="0"/>
              <a:t> - Deep Q-Learning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6D416-D38A-0017-97D0-405FC55C625A}"/>
              </a:ext>
            </a:extLst>
          </p:cNvPr>
          <p:cNvSpPr txBox="1"/>
          <p:nvPr/>
        </p:nvSpPr>
        <p:spPr>
          <a:xfrm>
            <a:off x="793662" y="2070537"/>
            <a:ext cx="10841290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Q-Learning </a:t>
            </a:r>
            <a:r>
              <a:rPr lang="en-US" b="1" dirty="0" err="1"/>
              <a:t>tradicional</a:t>
            </a:r>
            <a:r>
              <a:rPr lang="en-US" dirty="0"/>
              <a:t>: Q</a:t>
            </a:r>
            <a:r>
              <a:rPr lang="en-US" i="1" dirty="0"/>
              <a:t>(</a:t>
            </a:r>
            <a:r>
              <a:rPr lang="en-US" i="1" dirty="0" err="1"/>
              <a:t>s,a</a:t>
            </a:r>
            <a:r>
              <a:rPr lang="en-US" i="1" dirty="0"/>
              <a:t>) = E[r + </a:t>
            </a:r>
            <a:r>
              <a:rPr lang="el-GR" i="1" dirty="0"/>
              <a:t>γ </a:t>
            </a:r>
            <a:r>
              <a:rPr lang="en-US" i="1" dirty="0"/>
              <a:t>max Q</a:t>
            </a:r>
            <a:r>
              <a:rPr lang="en-US" dirty="0"/>
              <a:t>(</a:t>
            </a:r>
            <a:r>
              <a:rPr lang="en-US" dirty="0" err="1"/>
              <a:t>s',a</a:t>
            </a:r>
            <a:r>
              <a:rPr lang="en-US" dirty="0"/>
              <a:t>')]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Inovação</a:t>
            </a:r>
            <a:r>
              <a:rPr lang="en-US" b="1" dirty="0"/>
              <a:t> DQN</a:t>
            </a:r>
            <a:r>
              <a:rPr lang="en-US" dirty="0"/>
              <a:t>: </a:t>
            </a:r>
            <a:r>
              <a:rPr lang="en-US" dirty="0" err="1"/>
              <a:t>Aproximação</a:t>
            </a:r>
            <a:r>
              <a:rPr lang="en-US" dirty="0"/>
              <a:t> da </a:t>
            </a:r>
            <a:r>
              <a:rPr lang="en-US" dirty="0" err="1"/>
              <a:t>função</a:t>
            </a:r>
            <a:r>
              <a:rPr lang="en-US" dirty="0"/>
              <a:t> Q com redes </a:t>
            </a:r>
            <a:r>
              <a:rPr lang="en-US" dirty="0" err="1"/>
              <a:t>neurais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Função</a:t>
            </a:r>
            <a:r>
              <a:rPr lang="en-US" b="1" dirty="0"/>
              <a:t> de </a:t>
            </a:r>
            <a:r>
              <a:rPr lang="en-US" b="1" dirty="0" err="1"/>
              <a:t>perda</a:t>
            </a:r>
            <a:r>
              <a:rPr lang="en-US" dirty="0"/>
              <a:t>: L(</a:t>
            </a:r>
            <a:r>
              <a:rPr lang="el-GR" dirty="0"/>
              <a:t>θ) = </a:t>
            </a:r>
            <a:r>
              <a:rPr lang="en-US" dirty="0"/>
              <a:t>E[(r + </a:t>
            </a:r>
            <a:r>
              <a:rPr lang="el-GR" dirty="0"/>
              <a:t>γ </a:t>
            </a:r>
            <a:r>
              <a:rPr lang="en-US" dirty="0"/>
              <a:t>max Q(</a:t>
            </a:r>
            <a:r>
              <a:rPr lang="en-US" dirty="0" err="1"/>
              <a:t>s',a</a:t>
            </a:r>
            <a:r>
              <a:rPr lang="en-US" dirty="0"/>
              <a:t>';</a:t>
            </a:r>
            <a:r>
              <a:rPr lang="el-GR" dirty="0"/>
              <a:t>θ⁻) - </a:t>
            </a:r>
            <a:r>
              <a:rPr lang="en-US" dirty="0"/>
              <a:t>Q(</a:t>
            </a:r>
            <a:r>
              <a:rPr lang="en-US" dirty="0" err="1"/>
              <a:t>s,a</a:t>
            </a:r>
            <a:r>
              <a:rPr lang="en-US" dirty="0"/>
              <a:t>;</a:t>
            </a:r>
            <a:r>
              <a:rPr lang="el-GR" dirty="0"/>
              <a:t>θ))²]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Problema</a:t>
            </a:r>
            <a:r>
              <a:rPr lang="en-US" b="1" dirty="0"/>
              <a:t> de </a:t>
            </a:r>
            <a:r>
              <a:rPr lang="en-US" b="1" dirty="0" err="1"/>
              <a:t>estabilidade</a:t>
            </a:r>
            <a:r>
              <a:rPr lang="en-US" dirty="0"/>
              <a:t>: </a:t>
            </a:r>
            <a:r>
              <a:rPr lang="en-US" dirty="0" err="1"/>
              <a:t>Correlação</a:t>
            </a:r>
            <a:r>
              <a:rPr lang="en-US" dirty="0"/>
              <a:t> temporal e moving targets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Solução</a:t>
            </a:r>
            <a:r>
              <a:rPr lang="en-US" dirty="0"/>
              <a:t>: Experience Replay + Target Networks</a:t>
            </a:r>
          </a:p>
        </p:txBody>
      </p:sp>
    </p:spTree>
    <p:extLst>
      <p:ext uri="{BB962C8B-B14F-4D97-AF65-F5344CB8AC3E}">
        <p14:creationId xmlns:p14="http://schemas.microsoft.com/office/powerpoint/2010/main" val="64539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14CB-9675-A07E-9B0C-6F4E29D5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B52E-E61B-AC0E-53A6-16D74CC0F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Algorítmicos</a:t>
            </a:r>
            <a:r>
              <a:rPr lang="en-US" dirty="0"/>
              <a:t> </a:t>
            </a:r>
            <a:r>
              <a:rPr lang="en-US" dirty="0" err="1"/>
              <a:t>Principais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C8596-B3A9-E8B1-51AF-55866CA22267}"/>
              </a:ext>
            </a:extLst>
          </p:cNvPr>
          <p:cNvSpPr txBox="1"/>
          <p:nvPr/>
        </p:nvSpPr>
        <p:spPr>
          <a:xfrm>
            <a:off x="675355" y="1601295"/>
            <a:ext cx="10841290" cy="500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Experience Replay</a:t>
            </a:r>
            <a:r>
              <a:rPr lang="en-US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	Buffer de 100,000 </a:t>
            </a:r>
            <a:r>
              <a:rPr lang="en-US" dirty="0" err="1"/>
              <a:t>transições</a:t>
            </a:r>
            <a:r>
              <a:rPr lang="en-US" dirty="0"/>
              <a:t> (</a:t>
            </a:r>
            <a:r>
              <a:rPr lang="en-US" dirty="0" err="1"/>
              <a:t>s,a,r,s</a:t>
            </a:r>
            <a:r>
              <a:rPr lang="en-US" dirty="0"/>
              <a:t>’)</a:t>
            </a:r>
          </a:p>
          <a:p>
            <a:pPr>
              <a:lnSpc>
                <a:spcPct val="200000"/>
              </a:lnSpc>
            </a:pPr>
            <a:r>
              <a:rPr lang="en-US" dirty="0"/>
              <a:t>	</a:t>
            </a:r>
            <a:r>
              <a:rPr lang="en-US" dirty="0" err="1"/>
              <a:t>Amostragem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</a:t>
            </a:r>
            <a:r>
              <a:rPr lang="en-US" dirty="0" err="1"/>
              <a:t>quebra</a:t>
            </a:r>
            <a:r>
              <a:rPr lang="en-US" dirty="0"/>
              <a:t> </a:t>
            </a:r>
            <a:r>
              <a:rPr lang="en-US" dirty="0" err="1"/>
              <a:t>correlações</a:t>
            </a:r>
            <a:r>
              <a:rPr lang="en-US" dirty="0"/>
              <a:t> </a:t>
            </a:r>
            <a:r>
              <a:rPr lang="en-US" dirty="0" err="1"/>
              <a:t>temporais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Target Network</a:t>
            </a:r>
            <a:r>
              <a:rPr lang="en-US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	Rede </a:t>
            </a:r>
            <a:r>
              <a:rPr lang="en-US" dirty="0" err="1"/>
              <a:t>separada</a:t>
            </a:r>
            <a:r>
              <a:rPr lang="en-US" dirty="0"/>
              <a:t> para </a:t>
            </a:r>
            <a:r>
              <a:rPr lang="en-US" dirty="0" err="1"/>
              <a:t>valores-alvo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	</a:t>
            </a:r>
            <a:r>
              <a:rPr lang="en-US" dirty="0" err="1"/>
              <a:t>Atualizada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 1000 </a:t>
            </a:r>
            <a:r>
              <a:rPr lang="en-US" dirty="0" err="1"/>
              <a:t>passos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Exploração</a:t>
            </a:r>
            <a:r>
              <a:rPr lang="en-US" b="1" dirty="0"/>
              <a:t> </a:t>
            </a:r>
            <a:r>
              <a:rPr lang="el-GR" b="1" dirty="0"/>
              <a:t>ε-</a:t>
            </a:r>
            <a:r>
              <a:rPr lang="en-US" b="1" dirty="0"/>
              <a:t>Greedy</a:t>
            </a:r>
            <a:r>
              <a:rPr lang="en-US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	</a:t>
            </a:r>
            <a:r>
              <a:rPr lang="el-GR" dirty="0"/>
              <a:t>ε </a:t>
            </a:r>
            <a:r>
              <a:rPr lang="en-US" dirty="0" err="1"/>
              <a:t>decai</a:t>
            </a:r>
            <a:r>
              <a:rPr lang="en-US" dirty="0"/>
              <a:t> </a:t>
            </a:r>
            <a:r>
              <a:rPr lang="en-US" dirty="0" err="1"/>
              <a:t>exponencialmente</a:t>
            </a:r>
            <a:r>
              <a:rPr lang="en-US" dirty="0"/>
              <a:t>: </a:t>
            </a:r>
            <a:r>
              <a:rPr lang="el-GR" dirty="0"/>
              <a:t>ε(</a:t>
            </a:r>
            <a:r>
              <a:rPr lang="en-US" dirty="0"/>
              <a:t>t) = </a:t>
            </a:r>
            <a:r>
              <a:rPr lang="el-GR" dirty="0"/>
              <a:t>ε</a:t>
            </a:r>
            <a:r>
              <a:rPr lang="en-US" dirty="0"/>
              <a:t>ₑₙᵈ + (</a:t>
            </a:r>
            <a:r>
              <a:rPr lang="el-GR" dirty="0"/>
              <a:t>ε</a:t>
            </a:r>
            <a:r>
              <a:rPr lang="en-US" dirty="0"/>
              <a:t>ₛₜₐᵣₜ - </a:t>
            </a:r>
            <a:r>
              <a:rPr lang="el-GR" dirty="0"/>
              <a:t>ε</a:t>
            </a:r>
            <a:r>
              <a:rPr lang="en-US" dirty="0"/>
              <a:t>ₑₙᵈ) * exp(-t/decay)</a:t>
            </a:r>
          </a:p>
          <a:p>
            <a:pPr>
              <a:lnSpc>
                <a:spcPct val="200000"/>
              </a:lnSpc>
            </a:pPr>
            <a:r>
              <a:rPr lang="en-US" dirty="0"/>
              <a:t>	</a:t>
            </a:r>
            <a:r>
              <a:rPr lang="en-US" dirty="0" err="1"/>
              <a:t>Transição</a:t>
            </a:r>
            <a:r>
              <a:rPr lang="en-US" dirty="0"/>
              <a:t> gradual: </a:t>
            </a:r>
            <a:r>
              <a:rPr lang="en-US" dirty="0" err="1"/>
              <a:t>exploração</a:t>
            </a:r>
            <a:r>
              <a:rPr lang="en-US" dirty="0"/>
              <a:t> → </a:t>
            </a:r>
            <a:r>
              <a:rPr lang="en-US" dirty="0" err="1"/>
              <a:t>exploitação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98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67BF-3FF6-6C23-DA03-CAB23E71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F40D-3463-4988-F0A1-DF19F8D6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Arquitetura</a:t>
            </a:r>
            <a:r>
              <a:rPr lang="en-US" dirty="0"/>
              <a:t> da Rede Neural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41675-EB64-C25D-B483-6A67300D5619}"/>
              </a:ext>
            </a:extLst>
          </p:cNvPr>
          <p:cNvSpPr txBox="1"/>
          <p:nvPr/>
        </p:nvSpPr>
        <p:spPr>
          <a:xfrm>
            <a:off x="675355" y="1601295"/>
            <a:ext cx="10841290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Pipeline de Pré-</a:t>
            </a:r>
            <a:r>
              <a:rPr lang="en-US" b="1" dirty="0" err="1"/>
              <a:t>processamento</a:t>
            </a:r>
            <a:r>
              <a:rPr lang="en-US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	RGB → Grayscale (</a:t>
            </a: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dimensionalidade</a:t>
            </a:r>
            <a:r>
              <a:rPr lang="en-US" dirty="0"/>
              <a:t>)</a:t>
            </a:r>
          </a:p>
          <a:p>
            <a:pPr>
              <a:lnSpc>
                <a:spcPct val="200000"/>
              </a:lnSpc>
            </a:pPr>
            <a:r>
              <a:rPr lang="en-US" dirty="0"/>
              <a:t>	Resize: 210×160 → 84×84 (</a:t>
            </a:r>
            <a:r>
              <a:rPr lang="en-US" dirty="0" err="1"/>
              <a:t>eficiência</a:t>
            </a:r>
            <a:r>
              <a:rPr lang="en-US" dirty="0"/>
              <a:t>)</a:t>
            </a:r>
          </a:p>
          <a:p>
            <a:pPr>
              <a:lnSpc>
                <a:spcPct val="200000"/>
              </a:lnSpc>
            </a:pPr>
            <a:r>
              <a:rPr lang="en-US" dirty="0"/>
              <a:t>	Frame Stacking: 4 </a:t>
            </a:r>
            <a:r>
              <a:rPr lang="en-US" dirty="0" err="1"/>
              <a:t>quadros</a:t>
            </a:r>
            <a:r>
              <a:rPr lang="en-US" dirty="0"/>
              <a:t> </a:t>
            </a:r>
            <a:r>
              <a:rPr lang="en-US" dirty="0" err="1"/>
              <a:t>consecutivos</a:t>
            </a:r>
            <a:r>
              <a:rPr lang="en-US" dirty="0"/>
              <a:t> (</a:t>
            </a:r>
            <a:r>
              <a:rPr lang="en-US" dirty="0" err="1"/>
              <a:t>captura</a:t>
            </a:r>
            <a:r>
              <a:rPr lang="en-US" dirty="0"/>
              <a:t> </a:t>
            </a:r>
            <a:r>
              <a:rPr lang="en-US" dirty="0" err="1"/>
              <a:t>movimento</a:t>
            </a:r>
            <a:r>
              <a:rPr lang="en-US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Arquitetura</a:t>
            </a:r>
            <a:r>
              <a:rPr lang="en-US" b="1" dirty="0"/>
              <a:t> CNN</a:t>
            </a:r>
            <a:r>
              <a:rPr lang="en-US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	Conv2d(4→32, k=8, s=4) → Conv2d(32→64, k=4, s=2) → Conv2d(64→64, k=3, s=1)</a:t>
            </a:r>
          </a:p>
          <a:p>
            <a:pPr>
              <a:lnSpc>
                <a:spcPct val="200000"/>
              </a:lnSpc>
            </a:pPr>
            <a:r>
              <a:rPr lang="en-US" dirty="0"/>
              <a:t>	Flatten → Linear(3136→512) → Linear(512→6)</a:t>
            </a:r>
          </a:p>
          <a:p>
            <a:pPr>
              <a:lnSpc>
                <a:spcPct val="200000"/>
              </a:lnSpc>
            </a:pPr>
            <a:r>
              <a:rPr lang="en-US" dirty="0"/>
              <a:t>	ReLU entre </a:t>
            </a:r>
            <a:r>
              <a:rPr lang="en-US" dirty="0" err="1"/>
              <a:t>camadas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96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7171-8B1E-D709-19F7-13F26FBC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6845-3258-8B0F-7D9E-1C64759A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Hiperparâmetros</a:t>
            </a:r>
            <a:r>
              <a:rPr lang="en-US" dirty="0"/>
              <a:t> e </a:t>
            </a:r>
            <a:r>
              <a:rPr lang="en-US" dirty="0" err="1"/>
              <a:t>Configuração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8504D-2CF4-BF06-8091-B2EF63463737}"/>
              </a:ext>
            </a:extLst>
          </p:cNvPr>
          <p:cNvSpPr txBox="1"/>
          <p:nvPr/>
        </p:nvSpPr>
        <p:spPr>
          <a:xfrm>
            <a:off x="675355" y="1601295"/>
            <a:ext cx="10841290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Taxa de </a:t>
            </a:r>
            <a:r>
              <a:rPr lang="en-US" b="1" dirty="0" err="1"/>
              <a:t>Aprendizado</a:t>
            </a:r>
            <a:r>
              <a:rPr lang="en-US" dirty="0"/>
              <a:t>: 1e-4 (</a:t>
            </a:r>
            <a:r>
              <a:rPr lang="en-US" dirty="0" err="1"/>
              <a:t>conservador</a:t>
            </a:r>
            <a:r>
              <a:rPr lang="en-US" dirty="0"/>
              <a:t> com Adam)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Batch Size</a:t>
            </a:r>
            <a:r>
              <a:rPr lang="en-US" dirty="0"/>
              <a:t>: 16 (</a:t>
            </a:r>
            <a:r>
              <a:rPr lang="en-US" dirty="0" err="1"/>
              <a:t>balanceio</a:t>
            </a:r>
            <a:r>
              <a:rPr lang="en-US" dirty="0"/>
              <a:t> </a:t>
            </a:r>
            <a:r>
              <a:rPr lang="en-US" dirty="0" err="1"/>
              <a:t>estabilidade</a:t>
            </a:r>
            <a:r>
              <a:rPr lang="en-US" dirty="0"/>
              <a:t>/</a:t>
            </a:r>
            <a:r>
              <a:rPr lang="en-US" dirty="0" err="1"/>
              <a:t>eficiência</a:t>
            </a:r>
            <a:r>
              <a:rPr lang="en-US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Buffer Replay</a:t>
            </a:r>
            <a:r>
              <a:rPr lang="en-US" dirty="0"/>
              <a:t>: 100,000 </a:t>
            </a:r>
            <a:r>
              <a:rPr lang="en-US" dirty="0" err="1"/>
              <a:t>experiências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Target Update</a:t>
            </a:r>
            <a:r>
              <a:rPr lang="en-US" dirty="0"/>
              <a:t>: A </a:t>
            </a:r>
            <a:r>
              <a:rPr lang="en-US" dirty="0" err="1"/>
              <a:t>cada</a:t>
            </a:r>
            <a:r>
              <a:rPr lang="en-US" dirty="0"/>
              <a:t> 1000 </a:t>
            </a:r>
            <a:r>
              <a:rPr lang="en-US" dirty="0" err="1"/>
              <a:t>passos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Episódios</a:t>
            </a:r>
            <a:r>
              <a:rPr lang="en-US" b="1" dirty="0"/>
              <a:t> de </a:t>
            </a:r>
            <a:r>
              <a:rPr lang="en-US" b="1" dirty="0" err="1"/>
              <a:t>Treinamento</a:t>
            </a:r>
            <a:r>
              <a:rPr lang="en-US" dirty="0"/>
              <a:t>: 50 (</a:t>
            </a:r>
            <a:r>
              <a:rPr lang="en-US" dirty="0" err="1"/>
              <a:t>demonstração</a:t>
            </a:r>
            <a:r>
              <a:rPr lang="en-US" dirty="0"/>
              <a:t> </a:t>
            </a:r>
            <a:r>
              <a:rPr lang="en-US" dirty="0" err="1"/>
              <a:t>conceitual</a:t>
            </a:r>
            <a:r>
              <a:rPr lang="en-US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Device</a:t>
            </a:r>
            <a:r>
              <a:rPr lang="en-US" dirty="0"/>
              <a:t>: MPS (Apple Silicon GPU acceleration)</a:t>
            </a:r>
          </a:p>
        </p:txBody>
      </p:sp>
    </p:spTree>
    <p:extLst>
      <p:ext uri="{BB962C8B-B14F-4D97-AF65-F5344CB8AC3E}">
        <p14:creationId xmlns:p14="http://schemas.microsoft.com/office/powerpoint/2010/main" val="133682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DB61-F167-0951-A8E2-59A141E9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C49C-4275-9303-7647-12365D47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Algoritmo</a:t>
            </a:r>
            <a:r>
              <a:rPr lang="en-US" dirty="0"/>
              <a:t> de </a:t>
            </a:r>
            <a:r>
              <a:rPr lang="en-US" dirty="0" err="1"/>
              <a:t>Treinamento</a:t>
            </a:r>
            <a:r>
              <a:rPr lang="en-US" dirty="0"/>
              <a:t> (</a:t>
            </a:r>
            <a:r>
              <a:rPr lang="en-US" dirty="0" err="1"/>
              <a:t>Pseudocódigo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AC0F2-0823-B56F-594B-4FC04F07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585" y="2019300"/>
            <a:ext cx="68707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1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A1669-DFC7-6996-1026-43F0FEE8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496E3-A7A7-3208-F882-1BA94B07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 e Performance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C6A67-A005-C864-1F02-AB603DA54B92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Treinamento</a:t>
            </a:r>
            <a:r>
              <a:rPr lang="en-US" sz="1700"/>
              <a:t>: 50 episódios em ~30 minutos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Modelo salvo</a:t>
            </a:r>
            <a:r>
              <a:rPr lang="en-US" sz="1700"/>
              <a:t>: 6.4MB (ALE_Pong-v5_dqn_model.pth)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Evidências de aprendizado</a:t>
            </a:r>
            <a:r>
              <a:rPr lang="en-US" sz="170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Curvas de recompensa crescentes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Diminuição da exploração (ε decay)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	Demonstrações visuais funcionais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Métricas</a:t>
            </a:r>
            <a:r>
              <a:rPr lang="en-US" sz="1700"/>
              <a:t>: Performance média, desvio padrão, best/worst episodes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E11B1-EC7E-2321-704A-D19E34A1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483" y="2599510"/>
            <a:ext cx="5861683" cy="31066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9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6E8C-AE5F-9E06-E6FF-CFEA699B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732C-9D23-FB51-E82A-7285C361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Demonstração</a:t>
            </a:r>
            <a:r>
              <a:rPr lang="en-US" dirty="0"/>
              <a:t> </a:t>
            </a:r>
            <a:r>
              <a:rPr lang="en-US" dirty="0" err="1"/>
              <a:t>Prática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D72D8-4DDC-CB89-C005-4BC3F1198DE5}"/>
              </a:ext>
            </a:extLst>
          </p:cNvPr>
          <p:cNvSpPr txBox="1"/>
          <p:nvPr/>
        </p:nvSpPr>
        <p:spPr>
          <a:xfrm>
            <a:off x="675355" y="1601295"/>
            <a:ext cx="1084129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Modo </a:t>
            </a:r>
            <a:r>
              <a:rPr lang="en-US" b="1" dirty="0" err="1"/>
              <a:t>não</a:t>
            </a:r>
            <a:r>
              <a:rPr lang="en-US" b="1" dirty="0"/>
              <a:t>-visual</a:t>
            </a:r>
            <a:r>
              <a:rPr lang="en-US" dirty="0"/>
              <a:t>: </a:t>
            </a:r>
            <a:r>
              <a:rPr lang="en-US" dirty="0" err="1"/>
              <a:t>Estatísticas</a:t>
            </a:r>
            <a:r>
              <a:rPr lang="en-US" dirty="0"/>
              <a:t> </a:t>
            </a:r>
            <a:r>
              <a:rPr lang="en-US" dirty="0" err="1"/>
              <a:t>rápidas</a:t>
            </a:r>
            <a:r>
              <a:rPr lang="en-US" dirty="0"/>
              <a:t> de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Modo visual</a:t>
            </a:r>
            <a:r>
              <a:rPr lang="en-US" dirty="0"/>
              <a:t>: </a:t>
            </a:r>
            <a:r>
              <a:rPr lang="en-US" dirty="0" err="1"/>
              <a:t>Renderização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tempo real do </a:t>
            </a:r>
            <a:r>
              <a:rPr lang="en-US" dirty="0" err="1"/>
              <a:t>jogo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Gravação</a:t>
            </a:r>
            <a:r>
              <a:rPr lang="en-US" b="1" dirty="0"/>
              <a:t> de </a:t>
            </a:r>
            <a:r>
              <a:rPr lang="en-US" b="1" dirty="0" err="1"/>
              <a:t>vídeos</a:t>
            </a:r>
            <a:r>
              <a:rPr lang="en-US" dirty="0"/>
              <a:t>: Episodes salvos </a:t>
            </a:r>
            <a:r>
              <a:rPr lang="en-US" dirty="0" err="1"/>
              <a:t>como</a:t>
            </a:r>
            <a:r>
              <a:rPr lang="en-US" dirty="0"/>
              <a:t> MP4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Avaliação</a:t>
            </a:r>
            <a:r>
              <a:rPr lang="en-US" dirty="0"/>
              <a:t>: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puramente</a:t>
            </a:r>
            <a:r>
              <a:rPr lang="en-US" dirty="0"/>
              <a:t> exploitative (</a:t>
            </a:r>
            <a:r>
              <a:rPr lang="el-GR" dirty="0"/>
              <a:t>ε=0)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Resultados</a:t>
            </a:r>
            <a:r>
              <a:rPr lang="en-US" b="1" dirty="0"/>
              <a:t> salvos</a:t>
            </a:r>
            <a:r>
              <a:rPr lang="en-US" dirty="0"/>
              <a:t>: CSV com </a:t>
            </a:r>
            <a:r>
              <a:rPr lang="en-US" dirty="0" err="1"/>
              <a:t>métricas</a:t>
            </a:r>
            <a:r>
              <a:rPr lang="en-US" dirty="0"/>
              <a:t> </a:t>
            </a:r>
            <a:r>
              <a:rPr lang="en-US" dirty="0" err="1"/>
              <a:t>detalhadas</a:t>
            </a:r>
            <a:endParaRPr lang="en-US" dirty="0"/>
          </a:p>
        </p:txBody>
      </p:sp>
      <p:pic>
        <p:nvPicPr>
          <p:cNvPr id="4" name="visual_demo_20250611_214353_20250611_214353-episode-0.mp4">
            <a:hlinkClick r:id="" action="ppaction://media"/>
            <a:extLst>
              <a:ext uri="{FF2B5EF4-FFF2-40B4-BE49-F238E27FC236}">
                <a16:creationId xmlns:a16="http://schemas.microsoft.com/office/drawing/2014/main" id="{29CCB17F-0098-58EF-47AC-FE2150015D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76662" y="1209346"/>
            <a:ext cx="2771228" cy="363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8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6292-011A-3FBA-2531-656795337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F8DC-17FC-BA05-FBF8-6D0B755CB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Melhorias</a:t>
            </a:r>
            <a:r>
              <a:rPr lang="en-US" dirty="0"/>
              <a:t> </a:t>
            </a:r>
            <a:r>
              <a:rPr lang="en-US" dirty="0" err="1"/>
              <a:t>Implementadas</a:t>
            </a:r>
            <a:r>
              <a:rPr lang="en-US" dirty="0"/>
              <a:t> e </a:t>
            </a:r>
            <a:r>
              <a:rPr lang="en-US" dirty="0" err="1"/>
              <a:t>Futuras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C5659-36B1-D304-9EC8-912C66CECACE}"/>
              </a:ext>
            </a:extLst>
          </p:cNvPr>
          <p:cNvSpPr txBox="1"/>
          <p:nvPr/>
        </p:nvSpPr>
        <p:spPr>
          <a:xfrm>
            <a:off x="675355" y="1601295"/>
            <a:ext cx="1084129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Já</a:t>
            </a:r>
            <a:r>
              <a:rPr lang="en-US" b="1" dirty="0"/>
              <a:t> </a:t>
            </a:r>
            <a:r>
              <a:rPr lang="en-US" b="1" dirty="0" err="1"/>
              <a:t>implementado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CNNs para </a:t>
            </a:r>
            <a:r>
              <a:rPr lang="en-US" dirty="0" err="1"/>
              <a:t>processamento</a:t>
            </a:r>
            <a:r>
              <a:rPr lang="en-US" dirty="0"/>
              <a:t> visual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Frame stacking (</a:t>
            </a:r>
            <a:r>
              <a:rPr lang="en-US" dirty="0" err="1"/>
              <a:t>dependências</a:t>
            </a:r>
            <a:r>
              <a:rPr lang="en-US" dirty="0"/>
              <a:t> </a:t>
            </a:r>
            <a:r>
              <a:rPr lang="en-US" dirty="0" err="1"/>
              <a:t>temporais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Pré-</a:t>
            </a:r>
            <a:r>
              <a:rPr lang="en-US" dirty="0" err="1"/>
              <a:t>processamento</a:t>
            </a:r>
            <a:r>
              <a:rPr lang="en-US" dirty="0"/>
              <a:t> </a:t>
            </a:r>
            <a:r>
              <a:rPr lang="en-US" dirty="0" err="1"/>
              <a:t>otimizado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Oportunidades</a:t>
            </a:r>
            <a:r>
              <a:rPr lang="en-US" b="1" dirty="0"/>
              <a:t> </a:t>
            </a:r>
            <a:r>
              <a:rPr lang="en-US" b="1" dirty="0" err="1"/>
              <a:t>futuras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Double DQN (</a:t>
            </a:r>
            <a:r>
              <a:rPr lang="en-US" dirty="0" err="1"/>
              <a:t>reduzir</a:t>
            </a:r>
            <a:r>
              <a:rPr lang="en-US" dirty="0"/>
              <a:t> </a:t>
            </a:r>
            <a:r>
              <a:rPr lang="en-US" dirty="0" err="1"/>
              <a:t>superestimação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Dueling DQN (</a:t>
            </a:r>
            <a:r>
              <a:rPr lang="en-US" dirty="0" err="1"/>
              <a:t>separar</a:t>
            </a:r>
            <a:r>
              <a:rPr lang="en-US" dirty="0"/>
              <a:t> valor/</a:t>
            </a:r>
            <a:r>
              <a:rPr lang="en-US" dirty="0" err="1"/>
              <a:t>vantagem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Prioritized Experience Replay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Rainbow DQN (</a:t>
            </a:r>
            <a:r>
              <a:rPr lang="en-US" dirty="0" err="1"/>
              <a:t>combinação</a:t>
            </a:r>
            <a:r>
              <a:rPr lang="en-US" dirty="0"/>
              <a:t> de </a:t>
            </a:r>
            <a:r>
              <a:rPr lang="en-US" dirty="0" err="1"/>
              <a:t>melhorias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07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9889-6F0F-BBE4-97C0-F1DBDCDD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CC86-12F7-1F24-00BF-677CE87B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Desafios</a:t>
            </a:r>
            <a:r>
              <a:rPr lang="en-US" dirty="0"/>
              <a:t> e </a:t>
            </a:r>
            <a:r>
              <a:rPr lang="en-US" dirty="0" err="1"/>
              <a:t>Soluções</a:t>
            </a:r>
            <a:r>
              <a:rPr lang="en-US" dirty="0"/>
              <a:t> </a:t>
            </a:r>
            <a:r>
              <a:rPr lang="en-US" dirty="0" err="1"/>
              <a:t>Técnicas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81270-48E5-0122-90E5-7F62E2E57B35}"/>
              </a:ext>
            </a:extLst>
          </p:cNvPr>
          <p:cNvSpPr txBox="1"/>
          <p:nvPr/>
        </p:nvSpPr>
        <p:spPr>
          <a:xfrm>
            <a:off x="675355" y="1601295"/>
            <a:ext cx="10841290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Alta </a:t>
            </a:r>
            <a:r>
              <a:rPr lang="en-US" b="1" dirty="0" err="1"/>
              <a:t>dimensionalidade</a:t>
            </a:r>
            <a:r>
              <a:rPr lang="en-US" dirty="0"/>
              <a:t>: CNN + </a:t>
            </a:r>
            <a:r>
              <a:rPr lang="en-US" dirty="0" err="1"/>
              <a:t>pré-processamento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Estabilidade</a:t>
            </a:r>
            <a:r>
              <a:rPr lang="en-US" dirty="0"/>
              <a:t>: Experience replay + target networks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Eficiência</a:t>
            </a:r>
            <a:r>
              <a:rPr lang="en-US" b="1" dirty="0"/>
              <a:t> de </a:t>
            </a:r>
            <a:r>
              <a:rPr lang="en-US" b="1" dirty="0" err="1"/>
              <a:t>amostra</a:t>
            </a:r>
            <a:r>
              <a:rPr lang="en-US" dirty="0"/>
              <a:t>: Buffer </a:t>
            </a:r>
            <a:r>
              <a:rPr lang="en-US" dirty="0" err="1"/>
              <a:t>grande</a:t>
            </a:r>
            <a:r>
              <a:rPr lang="en-US" dirty="0"/>
              <a:t> + batch training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Exploração</a:t>
            </a:r>
            <a:r>
              <a:rPr lang="en-US" b="1" dirty="0"/>
              <a:t> vs </a:t>
            </a:r>
            <a:r>
              <a:rPr lang="en-US" b="1" dirty="0" err="1"/>
              <a:t>Exploitação</a:t>
            </a:r>
            <a:r>
              <a:rPr lang="en-US" dirty="0"/>
              <a:t>: </a:t>
            </a:r>
            <a:r>
              <a:rPr lang="en-US" dirty="0" err="1"/>
              <a:t>Decaimento</a:t>
            </a:r>
            <a:r>
              <a:rPr lang="en-US" dirty="0"/>
              <a:t> </a:t>
            </a:r>
            <a:r>
              <a:rPr lang="en-US" dirty="0" err="1"/>
              <a:t>exponencial</a:t>
            </a:r>
            <a:r>
              <a:rPr lang="en-US" dirty="0"/>
              <a:t> </a:t>
            </a:r>
            <a:r>
              <a:rPr lang="el-GR" dirty="0"/>
              <a:t>ε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Gradientes</a:t>
            </a:r>
            <a:r>
              <a:rPr lang="en-US" dirty="0"/>
              <a:t>: Clipping + Huber Loss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Reprodutibilidade</a:t>
            </a:r>
            <a:r>
              <a:rPr lang="en-US" dirty="0"/>
              <a:t>: Seeds </a:t>
            </a:r>
            <a:r>
              <a:rPr lang="en-US" dirty="0" err="1"/>
              <a:t>fixas</a:t>
            </a:r>
            <a:r>
              <a:rPr lang="en-US" dirty="0"/>
              <a:t> + </a:t>
            </a:r>
            <a:r>
              <a:rPr lang="en-US" dirty="0" err="1"/>
              <a:t>operações</a:t>
            </a:r>
            <a:r>
              <a:rPr lang="en-US" dirty="0"/>
              <a:t> </a:t>
            </a:r>
            <a:r>
              <a:rPr lang="en-US" dirty="0" err="1"/>
              <a:t>determinísticas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75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C57C-8973-64A1-7E70-CE67D14B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1BB1-165C-5A7E-E375-D55E8CDF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1336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 err="1"/>
              <a:t>Referências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F5FD5-F953-4DC0-C96C-E6D7E3960C11}"/>
              </a:ext>
            </a:extLst>
          </p:cNvPr>
          <p:cNvSpPr txBox="1"/>
          <p:nvPr/>
        </p:nvSpPr>
        <p:spPr>
          <a:xfrm>
            <a:off x="675355" y="1601295"/>
            <a:ext cx="1084129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Hessel et al. (2022)</a:t>
            </a:r>
            <a:r>
              <a:rPr lang="en-US" dirty="0"/>
              <a:t> - ICML [A1]: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"Muesli: Combining Improvements in Policy Optimization"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Técnicas</a:t>
            </a:r>
            <a:r>
              <a:rPr lang="en-US" dirty="0"/>
              <a:t> </a:t>
            </a:r>
            <a:r>
              <a:rPr lang="en-US" dirty="0" err="1"/>
              <a:t>avançadas</a:t>
            </a:r>
            <a:r>
              <a:rPr lang="en-US" dirty="0"/>
              <a:t> de </a:t>
            </a:r>
            <a:r>
              <a:rPr lang="en-US" dirty="0" err="1"/>
              <a:t>otimização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Agarwal et al. (2021)</a:t>
            </a:r>
            <a:r>
              <a:rPr lang="en-US" dirty="0"/>
              <a:t> - </a:t>
            </a:r>
            <a:r>
              <a:rPr lang="en-US" dirty="0" err="1"/>
              <a:t>NeurIPS</a:t>
            </a:r>
            <a:r>
              <a:rPr lang="en-US" dirty="0"/>
              <a:t> [A1]: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"Deep RL at the Edge of Statistical Precipice"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Metodologias</a:t>
            </a:r>
            <a:r>
              <a:rPr lang="en-US" dirty="0"/>
              <a:t> de </a:t>
            </a:r>
            <a:r>
              <a:rPr lang="en-US" dirty="0" err="1"/>
              <a:t>avaliação</a:t>
            </a:r>
            <a:r>
              <a:rPr lang="en-US" dirty="0"/>
              <a:t> robustas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Kumar et al. (2022)</a:t>
            </a:r>
            <a:r>
              <a:rPr lang="en-US" dirty="0"/>
              <a:t> - ICLR [A1]: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"Dr3: Value-Based Deep RL Requires Explicit Regularization"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Importância</a:t>
            </a:r>
            <a:r>
              <a:rPr lang="en-US" dirty="0"/>
              <a:t> de </a:t>
            </a:r>
            <a:r>
              <a:rPr lang="en-US" dirty="0" err="1"/>
              <a:t>regularização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52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732</Words>
  <Application>Microsoft Macintosh PowerPoint</Application>
  <PresentationFormat>Widescreen</PresentationFormat>
  <Paragraphs>87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Trabalho 2 –  Aprendizado por Reforço</vt:lpstr>
      <vt:lpstr>Introdução e Objetivos</vt:lpstr>
      <vt:lpstr>Formulação do Problema</vt:lpstr>
      <vt:lpstr>Fundamentos Teóricos - Deep Q-Learning</vt:lpstr>
      <vt:lpstr>Componentes Algorítmicos Principais</vt:lpstr>
      <vt:lpstr>Arquitetura da Rede Neural</vt:lpstr>
      <vt:lpstr>Hiperparâmetros e Configuração</vt:lpstr>
      <vt:lpstr>Algoritmo de Treinamento (Pseudocódigo)</vt:lpstr>
      <vt:lpstr>Resultados e Performance</vt:lpstr>
      <vt:lpstr>Demonstração Prática</vt:lpstr>
      <vt:lpstr>Melhorias Implementadas e Futuras</vt:lpstr>
      <vt:lpstr>Desafios e Soluções Técnicas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Martins, Roberto (ESI)</dc:creator>
  <cp:lastModifiedBy>Martins, Roberto (ESI)</cp:lastModifiedBy>
  <cp:revision>1</cp:revision>
  <dcterms:created xsi:type="dcterms:W3CDTF">2025-06-11T23:29:32Z</dcterms:created>
  <dcterms:modified xsi:type="dcterms:W3CDTF">2025-06-12T01:05:06Z</dcterms:modified>
</cp:coreProperties>
</file>